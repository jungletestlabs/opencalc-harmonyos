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aid-workflow 增量开发实验指南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6AD"/>
                </a:solidFill>
                <a:latin typeface="Calibri"/>
              </a:defRPr>
            </a:pPr>
            <a:r>
              <a:t>4 步让 AI 帮你拆需求、写代码、做验证 — 单页快速上手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3D0"/>
                </a:solidFill>
                <a:latin typeface="Calibri"/>
              </a:defRPr>
            </a:pPr>
            <a:r>
              <a:t>▎什么是 aid-workflow？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aid-workflow 是一套 AI 原生增量开发流程。把每次改动拆成可审查的独立增量，每个增量走完整的设计 → 实现 → 验证 → 归档闭环。</a:t>
            </a:r>
            <a:br/>
            <a:r>
              <a:t>核心理念：每次改动都有 git diff + apply-report 自证，不只是"改好了你看吧"。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3D0"/>
                </a:solidFill>
                <a:latin typeface="Calibri"/>
              </a:defRPr>
            </a:pPr>
            <a:r>
              <a:t>▎四阶段流程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3154679"/>
            <a:ext cx="274320" cy="274320"/>
          </a:xfrm>
          <a:prstGeom prst="ellipse">
            <a:avLst/>
          </a:prstGeom>
          <a:solidFill>
            <a:srgbClr val="4EC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A233A"/>
                </a:solidFill>
              </a:defRPr>
            </a:pPr>
            <a: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017520"/>
            <a:ext cx="2560320" cy="1828800"/>
          </a:xfrm>
          <a:prstGeom prst="rect">
            <a:avLst/>
          </a:prstGeom>
          <a:solidFill>
            <a:srgbClr val="24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15467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3D0"/>
                </a:solidFill>
                <a:latin typeface="Calibri"/>
              </a:defRPr>
            </a:pPr>
            <a:r>
              <a:t>1. PLANNING — 规划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52043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• rq-parse 需求解析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84047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• proposal / delta-spec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160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• 复杂度判定 S/M/L/XL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48055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• 门控确认 → 下一阶段</a:t>
            </a:r>
          </a:p>
        </p:txBody>
      </p:sp>
      <p:sp>
        <p:nvSpPr>
          <p:cNvPr id="14" name="Oval 13"/>
          <p:cNvSpPr/>
          <p:nvPr/>
        </p:nvSpPr>
        <p:spPr>
          <a:xfrm>
            <a:off x="3611879" y="3154679"/>
            <a:ext cx="274320" cy="274320"/>
          </a:xfrm>
          <a:prstGeom prst="ellipse">
            <a:avLst/>
          </a:prstGeom>
          <a:solidFill>
            <a:srgbClr val="4EC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A233A"/>
                </a:solidFill>
              </a:defRPr>
            </a:pPr>
            <a: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3017520"/>
            <a:ext cx="2560320" cy="1828800"/>
          </a:xfrm>
          <a:prstGeom prst="rect">
            <a:avLst/>
          </a:prstGeom>
          <a:solidFill>
            <a:srgbClr val="24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315467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3D0"/>
                </a:solidFill>
                <a:latin typeface="Calibri"/>
              </a:defRPr>
            </a:pPr>
            <a:r>
              <a:t>2. IMPLEMENTING — 实施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52043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• 任务分解 tasks.md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384047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• 检查清单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4160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• 依赖分析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448055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• 门控确认 → 下一阶段</a:t>
            </a:r>
          </a:p>
        </p:txBody>
      </p:sp>
      <p:sp>
        <p:nvSpPr>
          <p:cNvPr id="21" name="Oval 20"/>
          <p:cNvSpPr/>
          <p:nvPr/>
        </p:nvSpPr>
        <p:spPr>
          <a:xfrm>
            <a:off x="6355080" y="3154679"/>
            <a:ext cx="274320" cy="274320"/>
          </a:xfrm>
          <a:prstGeom prst="ellipse">
            <a:avLst/>
          </a:prstGeom>
          <a:solidFill>
            <a:srgbClr val="4EC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A233A"/>
                </a:solidFill>
              </a:defRPr>
            </a:pPr>
            <a: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017520"/>
            <a:ext cx="2560320" cy="1828800"/>
          </a:xfrm>
          <a:prstGeom prst="rect">
            <a:avLst/>
          </a:prstGeom>
          <a:solidFill>
            <a:srgbClr val="24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15467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3D0"/>
                </a:solidFill>
                <a:latin typeface="Calibri"/>
              </a:defRPr>
            </a:pPr>
            <a:r>
              <a:t>3. APPLYING — 应用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52043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• 代码生成 + 编译验证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84047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• git diff --stat 自证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160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• apply-report 报告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48055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• 门控确认 → 下一阶段</a:t>
            </a:r>
          </a:p>
        </p:txBody>
      </p:sp>
      <p:sp>
        <p:nvSpPr>
          <p:cNvPr id="28" name="Oval 27"/>
          <p:cNvSpPr/>
          <p:nvPr/>
        </p:nvSpPr>
        <p:spPr>
          <a:xfrm>
            <a:off x="9098280" y="3154679"/>
            <a:ext cx="274320" cy="274320"/>
          </a:xfrm>
          <a:prstGeom prst="ellipse">
            <a:avLst/>
          </a:prstGeom>
          <a:solidFill>
            <a:srgbClr val="4EC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A233A"/>
                </a:solidFill>
              </a:defRPr>
            </a:pPr>
            <a:r>
              <a:t>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0" y="3017520"/>
            <a:ext cx="2560320" cy="1828800"/>
          </a:xfrm>
          <a:prstGeom prst="rect">
            <a:avLst/>
          </a:prstGeom>
          <a:solidFill>
            <a:srgbClr val="24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9720" y="315467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3D0"/>
                </a:solidFill>
                <a:latin typeface="Calibri"/>
              </a:defRPr>
            </a:pPr>
            <a:r>
              <a:t>4. ARCHIVING — 归档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352043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• 移动 change 目录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384047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• 归档到 archives/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4160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• 更新文档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448055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• 闭环完成 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0749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3D0"/>
                </a:solidFill>
                <a:latin typeface="Calibri"/>
              </a:defRPr>
            </a:pPr>
            <a:r>
              <a:t>▎快速开始 — 动手实验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440680"/>
            <a:ext cx="2606040" cy="777240"/>
          </a:xfrm>
          <a:prstGeom prst="rect">
            <a:avLst/>
          </a:prstGeom>
          <a:solidFill>
            <a:srgbClr val="24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48640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6167"/>
                </a:solidFill>
                <a:latin typeface="Calibri"/>
              </a:defRPr>
            </a:pPr>
            <a:r>
              <a:t>① 创建分支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76072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onsolas"/>
              </a:defRPr>
            </a:pPr>
            <a:r>
              <a:t>git checkout -b feat/your-feature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39" y="5440680"/>
            <a:ext cx="2606040" cy="777240"/>
          </a:xfrm>
          <a:prstGeom prst="rect">
            <a:avLst/>
          </a:prstGeom>
          <a:solidFill>
            <a:srgbClr val="24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03320" y="548640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6167"/>
                </a:solidFill>
                <a:latin typeface="Calibri"/>
              </a:defRPr>
            </a:pPr>
            <a:r>
              <a:t>② 写 proposal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03320" y="576072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onsolas"/>
              </a:defRPr>
            </a:pPr>
            <a:r>
              <a:t>用 rq-parse 解析你的需求 → proposal.md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59" y="5440680"/>
            <a:ext cx="2606040" cy="777240"/>
          </a:xfrm>
          <a:prstGeom prst="rect">
            <a:avLst/>
          </a:prstGeom>
          <a:solidFill>
            <a:srgbClr val="24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548640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6167"/>
                </a:solidFill>
                <a:latin typeface="Calibri"/>
              </a:defRPr>
            </a:pPr>
            <a:r>
              <a:t>③ 逐阶段执行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576072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onsolas"/>
              </a:defRPr>
            </a:pPr>
            <a:r>
              <a:t>PLANNING → IMPLEMENTING → APPLYING → ARCHIVING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98280" y="5440680"/>
            <a:ext cx="2606040" cy="777240"/>
          </a:xfrm>
          <a:prstGeom prst="rect">
            <a:avLst/>
          </a:prstGeom>
          <a:solidFill>
            <a:srgbClr val="24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81159" y="548640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6167"/>
                </a:solidFill>
                <a:latin typeface="Calibri"/>
              </a:defRPr>
            </a:pPr>
            <a:r>
              <a:t>④ 查看报告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81159" y="576072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onsolas"/>
              </a:defRPr>
            </a:pPr>
            <a:r>
              <a:t>apply-report.md + git diff --stat 证明你的改动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6AD"/>
                </a:solidFill>
                <a:latin typeface="Calibri"/>
              </a:defRPr>
            </a:pPr>
            <a:r>
              <a:t>狗爹 @zhangtbj  |  仓库: github.com/JungleTestLabs/opencalc-harmonyos  |  文档: docs/aid-workflow-course/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